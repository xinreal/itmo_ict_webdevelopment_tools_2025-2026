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09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0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62179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Использование генераторов для асинхронного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программирования в Python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85216" y="16002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Краткий путь от обычного yield к корутинам, async/await и асинхронным генераторам</a:t>
            </a:r>
            <a:endParaRPr lang="en-US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6CCF34-EC69-2EE3-DCBD-314243FD61AF}"/>
              </a:ext>
            </a:extLst>
          </p:cNvPr>
          <p:cNvGrpSpPr/>
          <p:nvPr/>
        </p:nvGrpSpPr>
        <p:grpSpPr>
          <a:xfrm>
            <a:off x="411480" y="5824728"/>
            <a:ext cx="3200400" cy="411480"/>
            <a:chOff x="731520" y="4389120"/>
            <a:chExt cx="3200400" cy="411480"/>
          </a:xfrm>
        </p:grpSpPr>
        <p:sp>
          <p:nvSpPr>
            <p:cNvPr id="7" name="Shape 5"/>
            <p:cNvSpPr/>
            <p:nvPr/>
          </p:nvSpPr>
          <p:spPr>
            <a:xfrm>
              <a:off x="731520" y="4389120"/>
              <a:ext cx="3200400" cy="41148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841248" y="4480560"/>
              <a:ext cx="298094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Python • generators • async</a:t>
              </a:r>
              <a:endParaRPr lang="en-US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3DB0A5-C97C-055D-9027-2B9FE4219E91}"/>
              </a:ext>
            </a:extLst>
          </p:cNvPr>
          <p:cNvGrpSpPr/>
          <p:nvPr/>
        </p:nvGrpSpPr>
        <p:grpSpPr>
          <a:xfrm>
            <a:off x="6355080" y="3063240"/>
            <a:ext cx="5029200" cy="868680"/>
            <a:chOff x="6629400" y="2971800"/>
            <a:chExt cx="5029200" cy="868680"/>
          </a:xfrm>
        </p:grpSpPr>
        <p:sp>
          <p:nvSpPr>
            <p:cNvPr id="9" name="Shape 7"/>
            <p:cNvSpPr/>
            <p:nvPr/>
          </p:nvSpPr>
          <p:spPr>
            <a:xfrm>
              <a:off x="6629400" y="2971800"/>
              <a:ext cx="1143000" cy="438912"/>
            </a:xfrm>
            <a:prstGeom prst="roundRect">
              <a:avLst>
                <a:gd name="adj" fmla="val 16667"/>
              </a:avLst>
            </a:prstGeom>
            <a:solidFill>
              <a:srgbClr val="E7EC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739128" y="3063240"/>
              <a:ext cx="923544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yield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818120" y="3191256"/>
              <a:ext cx="640080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8503920" y="2971800"/>
              <a:ext cx="1143000" cy="438912"/>
            </a:xfrm>
            <a:prstGeom prst="roundRect">
              <a:avLst>
                <a:gd name="adj" fmla="val 16667"/>
              </a:avLst>
            </a:prstGeom>
            <a:solidFill>
              <a:srgbClr val="DDF3E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8613648" y="3063240"/>
              <a:ext cx="923544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pause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9692640" y="3191256"/>
              <a:ext cx="685800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5" name="Shape 13"/>
            <p:cNvSpPr/>
            <p:nvPr/>
          </p:nvSpPr>
          <p:spPr>
            <a:xfrm>
              <a:off x="10424160" y="2971800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EDE5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0533888" y="3063240"/>
              <a:ext cx="1014984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async/await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720840" y="35661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одна идея: приостановить → продолжить</a:t>
              </a:r>
              <a:endParaRPr lang="en-US" sz="14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F08D864-BA07-295C-5229-F9A358DCDD57}"/>
              </a:ext>
            </a:extLst>
          </p:cNvPr>
          <p:cNvSpPr txBox="1"/>
          <p:nvPr/>
        </p:nvSpPr>
        <p:spPr>
          <a:xfrm>
            <a:off x="9630205" y="5866876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Яковенко К. А.</a:t>
            </a:r>
            <a:endParaRPr lang="en-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нужна асинхронность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Программа часто не считает, а ждёт: сеть, файлы, базу данных, таймеры.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Синхронный код блокируется во время ожидания.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Асинхронный код может переключаться между задачами.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3504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Идея: не простаивать во время ожидания.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E553A6-25A4-9F60-E518-16F38CCE058F}"/>
              </a:ext>
            </a:extLst>
          </p:cNvPr>
          <p:cNvGrpSpPr/>
          <p:nvPr/>
        </p:nvGrpSpPr>
        <p:grpSpPr>
          <a:xfrm>
            <a:off x="5910217" y="1495117"/>
            <a:ext cx="5212080" cy="3351347"/>
            <a:chOff x="5852160" y="1168110"/>
            <a:chExt cx="5212080" cy="3351347"/>
          </a:xfrm>
        </p:grpSpPr>
        <p:sp>
          <p:nvSpPr>
            <p:cNvPr id="8" name="Shape 6"/>
            <p:cNvSpPr/>
            <p:nvPr/>
          </p:nvSpPr>
          <p:spPr>
            <a:xfrm>
              <a:off x="5852160" y="1168110"/>
              <a:ext cx="5212080" cy="3351347"/>
            </a:xfrm>
            <a:prstGeom prst="roundRect">
              <a:avLst>
                <a:gd name="adj" fmla="val 3871"/>
              </a:avLst>
            </a:prstGeom>
            <a:solidFill>
              <a:srgbClr val="E9EEF6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217920" y="1325880"/>
              <a:ext cx="4480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526AA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Синхронно: задача стоит в очереди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355080" y="173736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FCE8C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464808" y="1828800"/>
              <a:ext cx="83210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запрос 1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424928" y="1938528"/>
              <a:ext cx="393192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3" name="Shape 11"/>
            <p:cNvSpPr/>
            <p:nvPr/>
          </p:nvSpPr>
          <p:spPr>
            <a:xfrm>
              <a:off x="7863840" y="173736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973568" y="1828800"/>
              <a:ext cx="83210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ожидание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942832" y="1938528"/>
              <a:ext cx="384048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9372600" y="173736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FCE8C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9482328" y="1828800"/>
              <a:ext cx="83210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запрос 2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17920" y="2743200"/>
              <a:ext cx="4480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526AA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Асинхронно: ожидание освобождает место</a:t>
              </a:r>
              <a:endParaRPr lang="en-US" sz="1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355080" y="315468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E7EC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464808" y="3246120"/>
              <a:ext cx="83210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task A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406640" y="3355848"/>
              <a:ext cx="411480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22" name="Shape 20"/>
            <p:cNvSpPr/>
            <p:nvPr/>
          </p:nvSpPr>
          <p:spPr>
            <a:xfrm>
              <a:off x="7863840" y="315468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DDF3E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973568" y="3246120"/>
              <a:ext cx="83210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task B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915400" y="3355848"/>
              <a:ext cx="411480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25" name="Shape 23"/>
            <p:cNvSpPr/>
            <p:nvPr/>
          </p:nvSpPr>
          <p:spPr>
            <a:xfrm>
              <a:off x="9372600" y="315468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EDE5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9482328" y="3246120"/>
              <a:ext cx="83210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task C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629400" y="3931920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пока A ждёт — выполняются B и C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генератор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48056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Генератор — функция с yield.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 выдаёт значения постепенно, а не сразу.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yield сохраняется строка выполнения и локальные переменные.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12700">
            <a:solidFill>
              <a:srgbClr val="AEB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216152"/>
            <a:ext cx="36027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numbers():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3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numbers():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95179" y="3383280"/>
            <a:ext cx="5926041" cy="1645920"/>
          </a:xfrm>
          <a:prstGeom prst="roundRect">
            <a:avLst>
              <a:gd name="adj" fmla="val 10000"/>
            </a:avLst>
          </a:prstGeom>
          <a:solidFill>
            <a:srgbClr val="E9EEF6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0244" y="3529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6A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 генератора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97764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4069080"/>
            <a:ext cx="557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59168" y="4169664"/>
            <a:ext cx="484632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397764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4069080"/>
            <a:ext cx="6492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76488" y="4169664"/>
            <a:ext cx="484632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06840" y="397764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4069080"/>
            <a:ext cx="6492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93808" y="4169664"/>
            <a:ext cx="438912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78440" y="3977640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88168" y="4069080"/>
            <a:ext cx="4663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next() каждый раз продолжает выполнение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6012180" y="1051560"/>
            <a:ext cx="4937760" cy="4297680"/>
          </a:xfrm>
          <a:prstGeom prst="roundRect">
            <a:avLst>
              <a:gd name="adj" fmla="val 3830"/>
            </a:avLst>
          </a:prstGeom>
          <a:solidFill>
            <a:srgbClr val="E9EEF6"/>
          </a:solidFill>
          <a:ln w="13970">
            <a:solidFill>
              <a:srgbClr val="AEB9CC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yield похож на асинхронную паузу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временно останавливает функцию.</a:t>
            </a:r>
            <a:endParaRPr lang="en-US" sz="1400" dirty="0"/>
          </a:p>
          <a:p>
            <a:r>
              <a:rPr lang="en-US" sz="1400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Внешний код решает, когда продолжить генератор.</a:t>
            </a:r>
            <a:endParaRPr lang="en-US" sz="1400" dirty="0"/>
          </a:p>
          <a:p>
            <a:r>
              <a:rPr lang="en-US" sz="1400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похоже на задачу, которая добровольно отдаёт управление.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600200"/>
            <a:ext cx="13807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Внешний код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1518286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16568" y="1600200"/>
            <a:ext cx="13807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Генератор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6992" y="1746504"/>
            <a:ext cx="1042416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92440" y="153619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19476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2926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EEF2F8"/>
          </a:solidFill>
          <a:ln w="12700">
            <a:solidFill>
              <a:srgbClr val="AEB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090672"/>
            <a:ext cx="35112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выполнить шаг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дойти до yield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сохранить состояние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4) можно продолжить позже</a:t>
            </a:r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5E7EFE-736B-07A2-CBBF-BD9C9FEA4CDE}"/>
              </a:ext>
            </a:extLst>
          </p:cNvPr>
          <p:cNvCxnSpPr>
            <a:cxnSpLocks/>
          </p:cNvCxnSpPr>
          <p:nvPr/>
        </p:nvCxnSpPr>
        <p:spPr>
          <a:xfrm flipH="1">
            <a:off x="7936992" y="1892808"/>
            <a:ext cx="1042416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Генераторы как корутины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66344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Корутина — функция, которую можно приостанавливать и возобновлять.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Генераторы в Python исторически использовались как корутины.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 send() позволяет передавать данные внутрь генератора.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9A24F1-6C85-464D-264A-61BBDF67A960}"/>
              </a:ext>
            </a:extLst>
          </p:cNvPr>
          <p:cNvGrpSpPr/>
          <p:nvPr/>
        </p:nvGrpSpPr>
        <p:grpSpPr>
          <a:xfrm>
            <a:off x="5806440" y="2262307"/>
            <a:ext cx="4983480" cy="2333385"/>
            <a:chOff x="5806440" y="943214"/>
            <a:chExt cx="4983480" cy="2333385"/>
          </a:xfrm>
        </p:grpSpPr>
        <p:sp>
          <p:nvSpPr>
            <p:cNvPr id="7" name="Shape 5"/>
            <p:cNvSpPr/>
            <p:nvPr/>
          </p:nvSpPr>
          <p:spPr>
            <a:xfrm>
              <a:off x="5806440" y="943214"/>
              <a:ext cx="4983480" cy="2333385"/>
            </a:xfrm>
            <a:prstGeom prst="roundRect">
              <a:avLst>
                <a:gd name="adj" fmla="val 3711"/>
              </a:avLst>
            </a:prstGeom>
            <a:solidFill>
              <a:srgbClr val="E9EEF6"/>
            </a:solidFill>
            <a:ln w="13970">
              <a:solidFill>
                <a:srgbClr val="AEB9CC"/>
              </a:solidFill>
              <a:prstDash val="solid"/>
            </a:ln>
          </p:spPr>
          <p:txBody>
            <a:bodyPr/>
            <a:lstStyle/>
            <a:p>
              <a:endParaRPr lang="en-150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263640" y="1417320"/>
              <a:ext cx="1188720" cy="41148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373368" y="1508760"/>
              <a:ext cx="96926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caller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144000" y="1417320"/>
              <a:ext cx="1188720" cy="411480"/>
            </a:xfrm>
            <a:prstGeom prst="roundRect">
              <a:avLst>
                <a:gd name="adj" fmla="val 17778"/>
              </a:avLst>
            </a:prstGeom>
            <a:solidFill>
              <a:srgbClr val="E7EC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9253728" y="1508760"/>
              <a:ext cx="969264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coroutine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 flipV="1">
              <a:off x="7452360" y="1497330"/>
              <a:ext cx="1691640" cy="11430"/>
            </a:xfrm>
            <a:prstGeom prst="line">
              <a:avLst/>
            </a:prstGeom>
            <a:noFill/>
            <a:ln w="17780">
              <a:solidFill>
                <a:schemeClr val="accent1">
                  <a:lumMod val="75000"/>
                </a:schemeClr>
              </a:solidFill>
              <a:prstDash val="solid"/>
              <a:headEnd type="none"/>
              <a:tailEnd type="triangle"/>
            </a:ln>
          </p:spPr>
        </p:sp>
        <p:sp>
          <p:nvSpPr>
            <p:cNvPr id="13" name="Text 11"/>
            <p:cNvSpPr/>
            <p:nvPr/>
          </p:nvSpPr>
          <p:spPr>
            <a:xfrm>
              <a:off x="7840980" y="1304283"/>
              <a:ext cx="914400" cy="174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yield ready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840980" y="1766578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send(value)</a:t>
              </a:r>
              <a:endParaRPr lang="en-US" sz="14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8C6B10-1EE6-E16E-3E61-2C73875708C6}"/>
                </a:ext>
              </a:extLst>
            </p:cNvPr>
            <p:cNvGrpSpPr/>
            <p:nvPr/>
          </p:nvGrpSpPr>
          <p:grpSpPr>
            <a:xfrm>
              <a:off x="6263640" y="2217294"/>
              <a:ext cx="4069080" cy="685800"/>
              <a:chOff x="6263640" y="3984897"/>
              <a:chExt cx="4069080" cy="68580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6263640" y="3984897"/>
                <a:ext cx="4069080" cy="685800"/>
              </a:xfrm>
              <a:prstGeom prst="roundRect">
                <a:avLst>
                  <a:gd name="adj" fmla="val 10667"/>
                </a:avLst>
              </a:prstGeom>
              <a:solidFill>
                <a:srgbClr val="DDF3E8"/>
              </a:solidFill>
              <a:ln w="13970">
                <a:solidFill>
                  <a:srgbClr val="AEB9CC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6373368" y="4069080"/>
                <a:ext cx="3849624" cy="502920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02A3A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Генератор не только выдаёт данные,</a:t>
                </a:r>
                <a:endParaRPr lang="en-US" sz="1400" dirty="0"/>
              </a:p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02A3A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но и получает их обратно.</a:t>
                </a:r>
                <a:endParaRPr lang="en-US" sz="1400" dirty="0"/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2D8E90-A3AB-4205-619B-AAE6447BF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2360" y="1747742"/>
              <a:ext cx="1691640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Простейший планировщик задач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Планировщик хранит несколько задач.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Каждый генератор делает один шаг.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yield управление возвращается к планировщику.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4937760" cy="4434840"/>
          </a:xfrm>
          <a:prstGeom prst="roundRect">
            <a:avLst>
              <a:gd name="adj" fmla="val 3711"/>
            </a:avLst>
          </a:prstGeom>
          <a:solidFill>
            <a:srgbClr val="E9EEF6"/>
          </a:solidFill>
          <a:ln w="13970">
            <a:solidFill>
              <a:srgbClr val="AEB9CC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600200"/>
            <a:ext cx="7863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64040" y="15087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DDF3E8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1600200"/>
            <a:ext cx="7863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6680" y="28803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DE5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6408" y="2971800"/>
            <a:ext cx="115214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0" y="44805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CE8C8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4572000"/>
            <a:ext cx="11521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938528"/>
            <a:ext cx="1005840" cy="941832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9098280" y="1938528"/>
            <a:ext cx="868680" cy="941832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579168" y="3429000"/>
            <a:ext cx="16352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кооперативная многозадачность: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задачи сами уступают управление</a:t>
            </a:r>
            <a:endParaRPr lang="en-US" sz="1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892F7C-7BEF-2F16-9BB2-B92E3F102C89}"/>
              </a:ext>
            </a:extLst>
          </p:cNvPr>
          <p:cNvCxnSpPr>
            <a:cxnSpLocks/>
          </p:cNvCxnSpPr>
          <p:nvPr/>
        </p:nvCxnSpPr>
        <p:spPr>
          <a:xfrm>
            <a:off x="8405087" y="3383280"/>
            <a:ext cx="0" cy="109728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yield from к async/await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84632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постепенно ушёл от генераторных корутин к специальному синтаксису.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 делает ожидание явным и понятным.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from был важным промежуточным шагом.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D415A0-9DBD-5A1E-6A7E-552FF2475829}"/>
              </a:ext>
            </a:extLst>
          </p:cNvPr>
          <p:cNvGrpSpPr/>
          <p:nvPr/>
        </p:nvGrpSpPr>
        <p:grpSpPr>
          <a:xfrm>
            <a:off x="5811202" y="1978745"/>
            <a:ext cx="5786438" cy="2900510"/>
            <a:chOff x="5735283" y="976165"/>
            <a:chExt cx="5786438" cy="2900510"/>
          </a:xfrm>
        </p:grpSpPr>
        <p:sp>
          <p:nvSpPr>
            <p:cNvPr id="7" name="Shape 5"/>
            <p:cNvSpPr/>
            <p:nvPr/>
          </p:nvSpPr>
          <p:spPr>
            <a:xfrm>
              <a:off x="5735283" y="976165"/>
              <a:ext cx="5786438" cy="2900510"/>
            </a:xfrm>
            <a:prstGeom prst="roundRect">
              <a:avLst>
                <a:gd name="adj" fmla="val 3711"/>
              </a:avLst>
            </a:prstGeom>
            <a:solidFill>
              <a:srgbClr val="E9EEF6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12662" y="1302872"/>
              <a:ext cx="2729452" cy="184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526AA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Эволюция идеи</a:t>
              </a:r>
              <a:endParaRPr lang="en-US" sz="14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970269" y="1900258"/>
              <a:ext cx="928014" cy="414571"/>
            </a:xfrm>
            <a:prstGeom prst="roundRect">
              <a:avLst>
                <a:gd name="adj" fmla="val 17778"/>
              </a:avLst>
            </a:prstGeom>
            <a:solidFill>
              <a:srgbClr val="E7EC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089904" y="1988671"/>
              <a:ext cx="665986" cy="230317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yield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908190" y="2107544"/>
              <a:ext cx="360288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7255662" y="1897231"/>
              <a:ext cx="1037192" cy="414571"/>
            </a:xfrm>
            <a:prstGeom prst="roundRect">
              <a:avLst>
                <a:gd name="adj" fmla="val 17778"/>
              </a:avLst>
            </a:prstGeom>
            <a:solidFill>
              <a:srgbClr val="DDF3E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7365390" y="1988671"/>
              <a:ext cx="775164" cy="230317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send()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8292854" y="2111967"/>
              <a:ext cx="312817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5" name="Shape 13"/>
            <p:cNvSpPr/>
            <p:nvPr/>
          </p:nvSpPr>
          <p:spPr>
            <a:xfrm>
              <a:off x="8612470" y="1893591"/>
              <a:ext cx="1222794" cy="414571"/>
            </a:xfrm>
            <a:prstGeom prst="roundRect">
              <a:avLst>
                <a:gd name="adj" fmla="val 17778"/>
              </a:avLst>
            </a:prstGeom>
            <a:solidFill>
              <a:srgbClr val="FCE8C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743483" y="1985717"/>
              <a:ext cx="960767" cy="230317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yield from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9837006" y="2100877"/>
              <a:ext cx="360288" cy="0"/>
            </a:xfrm>
            <a:prstGeom prst="line">
              <a:avLst/>
            </a:prstGeom>
            <a:noFill/>
            <a:ln w="17780">
              <a:solidFill>
                <a:srgbClr val="526AA3"/>
              </a:solidFill>
              <a:prstDash val="solid"/>
              <a:headEnd type="none"/>
              <a:tailEnd type="triangle"/>
            </a:ln>
          </p:spPr>
        </p:sp>
        <p:sp>
          <p:nvSpPr>
            <p:cNvPr id="18" name="Shape 16"/>
            <p:cNvSpPr/>
            <p:nvPr/>
          </p:nvSpPr>
          <p:spPr>
            <a:xfrm>
              <a:off x="10197060" y="1900258"/>
              <a:ext cx="1146370" cy="414571"/>
            </a:xfrm>
            <a:prstGeom prst="roundRect">
              <a:avLst>
                <a:gd name="adj" fmla="val 17778"/>
              </a:avLst>
            </a:prstGeom>
            <a:solidFill>
              <a:srgbClr val="EDE5FA"/>
            </a:solidFill>
            <a:ln w="13970">
              <a:solidFill>
                <a:srgbClr val="AEB9CC"/>
              </a:solidFill>
              <a:prstDash val="solid"/>
            </a:ln>
          </p:spPr>
          <p:txBody>
            <a:bodyPr/>
            <a:lstStyle/>
            <a:p>
              <a:endParaRPr lang="en-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0328074" y="1988671"/>
              <a:ext cx="884342" cy="230317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async/</a:t>
              </a:r>
              <a:endParaRPr lang="ru-RU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await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066941" y="2491592"/>
              <a:ext cx="982603" cy="165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пауза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228229" y="2491592"/>
              <a:ext cx="1091781" cy="165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обмен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444381" y="2491592"/>
              <a:ext cx="1310137" cy="165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делегирование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9770261" y="2491592"/>
              <a:ext cx="1419315" cy="165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E5B6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современный стиль</a:t>
              </a:r>
              <a:endParaRPr lang="en-US" sz="1400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C634994-0B51-3771-B2BC-06270EEA729C}"/>
                </a:ext>
              </a:extLst>
            </p:cNvPr>
            <p:cNvGrpSpPr/>
            <p:nvPr/>
          </p:nvGrpSpPr>
          <p:grpSpPr>
            <a:xfrm>
              <a:off x="6367520" y="2999564"/>
              <a:ext cx="4476301" cy="506698"/>
              <a:chOff x="6341261" y="4228952"/>
              <a:chExt cx="4476301" cy="506698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6341261" y="4228952"/>
                <a:ext cx="4476301" cy="506698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13970">
                <a:solidFill>
                  <a:srgbClr val="AEB9CC"/>
                </a:solidFill>
                <a:prstDash val="solid"/>
              </a:ln>
            </p:spPr>
          </p:sp>
          <p:sp>
            <p:nvSpPr>
              <p:cNvPr id="25" name="Text 23"/>
              <p:cNvSpPr/>
              <p:nvPr/>
            </p:nvSpPr>
            <p:spPr>
              <a:xfrm>
                <a:off x="6450990" y="4320392"/>
                <a:ext cx="4214274" cy="322444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02A3A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Сейчас обычно пишут: async def + await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Асинхронные генераторы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8006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Асинхронный генератор объединяет две идеи: await и yield.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 — дождаться операции без блокировки.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— отдать очередное значение.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70448" y="768096"/>
            <a:ext cx="4846320" cy="4434840"/>
          </a:xfrm>
          <a:prstGeom prst="roundRect">
            <a:avLst>
              <a:gd name="adj" fmla="val 3711"/>
            </a:avLst>
          </a:prstGeom>
          <a:solidFill>
            <a:srgbClr val="E9EEF6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725" y="1508760"/>
            <a:ext cx="1042035" cy="475488"/>
          </a:xfrm>
          <a:prstGeom prst="roundRect">
            <a:avLst>
              <a:gd name="adj" fmla="val 15385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7450" y="1600200"/>
            <a:ext cx="84658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2571" y="1740408"/>
            <a:ext cx="484632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47203" y="150876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EDE5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6136" y="1600200"/>
            <a:ext cx="7863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42248" y="1746504"/>
            <a:ext cx="484632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0" y="150876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DDF3E8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1600200"/>
            <a:ext cx="9235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item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2F8"/>
          </a:solidFill>
          <a:ln w="12700">
            <a:solidFill>
              <a:srgbClr val="AEB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3090672"/>
            <a:ext cx="3236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for получает элементы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 мере их появления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пример: сообщения чата, строки из API, поток событий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Где это применяется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752221" y="1375157"/>
            <a:ext cx="5041720" cy="3566160"/>
          </a:xfrm>
          <a:prstGeom prst="roundRect">
            <a:avLst>
              <a:gd name="adj" fmla="val 4615"/>
            </a:avLst>
          </a:prstGeom>
          <a:solidFill>
            <a:srgbClr val="E9EEF6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0845" y="1676909"/>
            <a:ext cx="21330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6A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Общий сценарий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02962" y="2198117"/>
            <a:ext cx="1066518" cy="411480"/>
          </a:xfrm>
          <a:prstGeom prst="roundRect">
            <a:avLst>
              <a:gd name="adj" fmla="val 17778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5929" y="2289557"/>
            <a:ext cx="833823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70986" y="2408429"/>
            <a:ext cx="455694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08964" y="2198117"/>
            <a:ext cx="1114996" cy="411480"/>
          </a:xfrm>
          <a:prstGeom prst="roundRect">
            <a:avLst>
              <a:gd name="adj" fmla="val 17778"/>
            </a:avLst>
          </a:prstGeom>
          <a:solidFill>
            <a:srgbClr val="EDE5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1931" y="2289557"/>
            <a:ext cx="882301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ожидание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25466" y="2408429"/>
            <a:ext cx="455694" cy="0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66202" y="2198117"/>
            <a:ext cx="1066518" cy="411480"/>
          </a:xfrm>
          <a:prstGeom prst="roundRect">
            <a:avLst>
              <a:gd name="adj" fmla="val 17778"/>
            </a:avLst>
          </a:prstGeom>
          <a:solidFill>
            <a:srgbClr val="DDF3E8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89169" y="2289557"/>
            <a:ext cx="833823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1962" y="3203957"/>
            <a:ext cx="407215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Асинхронность особенно полезна, когда много таких операций одновременно.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24445" y="4301237"/>
            <a:ext cx="3151075" cy="457200"/>
          </a:xfrm>
          <a:prstGeom prst="roundRect">
            <a:avLst>
              <a:gd name="adj" fmla="val 16000"/>
            </a:avLst>
          </a:prstGeom>
          <a:solidFill>
            <a:srgbClr val="EDE5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7412" y="4392677"/>
            <a:ext cx="29183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меньше простоя → выше отзывчивость</a:t>
            </a:r>
            <a:endParaRPr lang="en-US" sz="1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2E31956-EB5D-DB6D-02D2-B00EF4B2DDBF}"/>
              </a:ext>
            </a:extLst>
          </p:cNvPr>
          <p:cNvGrpSpPr/>
          <p:nvPr/>
        </p:nvGrpSpPr>
        <p:grpSpPr>
          <a:xfrm>
            <a:off x="734570" y="2262506"/>
            <a:ext cx="4077186" cy="1791462"/>
            <a:chOff x="778955" y="1547114"/>
            <a:chExt cx="4077186" cy="1791462"/>
          </a:xfrm>
        </p:grpSpPr>
        <p:sp>
          <p:nvSpPr>
            <p:cNvPr id="6" name="Shape 4"/>
            <p:cNvSpPr/>
            <p:nvPr/>
          </p:nvSpPr>
          <p:spPr>
            <a:xfrm>
              <a:off x="778955" y="1547114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E7EC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888684" y="1638554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API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клиенты</a:t>
              </a:r>
              <a:endParaRPr lang="en-US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187240" y="1555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DDF3E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2296969" y="1646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WEB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серверы</a:t>
              </a:r>
              <a:endParaRPr lang="en-US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592556" y="1555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FCE8C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702285" y="1646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CHAT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боты</a:t>
              </a:r>
              <a:endParaRPr lang="en-US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78955" y="2690114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EDE5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888684" y="2781554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очереди</a:t>
              </a:r>
              <a:endParaRPr lang="en-US" dirty="0"/>
            </a:p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187240" y="2698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296969" y="2789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STREAM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потоки</a:t>
              </a:r>
              <a:endParaRPr lang="en-US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592556" y="2698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702285" y="2789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PARSER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парсинг</a:t>
              </a:r>
              <a:endParaRPr lang="en-US" dirty="0"/>
            </a:p>
          </p:txBody>
        </p:sp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6DF55B42-50E6-F0DE-0AD7-F5023230482C}"/>
                </a:ext>
              </a:extLst>
            </p:cNvPr>
            <p:cNvSpPr/>
            <p:nvPr/>
          </p:nvSpPr>
          <p:spPr>
            <a:xfrm>
              <a:off x="790955" y="1547114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E7EC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0779F423-35F2-6E13-5D32-90F4D31252EA}"/>
                </a:ext>
              </a:extLst>
            </p:cNvPr>
            <p:cNvSpPr/>
            <p:nvPr/>
          </p:nvSpPr>
          <p:spPr>
            <a:xfrm>
              <a:off x="900684" y="1638554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API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клиенты</a:t>
              </a:r>
              <a:endParaRPr lang="en-US" dirty="0"/>
            </a:p>
          </p:txBody>
        </p:sp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171F0467-7F7D-8A68-E03A-3FC06588FDCD}"/>
                </a:ext>
              </a:extLst>
            </p:cNvPr>
            <p:cNvSpPr/>
            <p:nvPr/>
          </p:nvSpPr>
          <p:spPr>
            <a:xfrm>
              <a:off x="2199240" y="1555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DDF3E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34" name="Text 7">
              <a:extLst>
                <a:ext uri="{FF2B5EF4-FFF2-40B4-BE49-F238E27FC236}">
                  <a16:creationId xmlns:a16="http://schemas.microsoft.com/office/drawing/2014/main" id="{870AE510-18A7-E564-999E-D44C01D0070E}"/>
                </a:ext>
              </a:extLst>
            </p:cNvPr>
            <p:cNvSpPr/>
            <p:nvPr/>
          </p:nvSpPr>
          <p:spPr>
            <a:xfrm>
              <a:off x="2308969" y="1646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WEB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серверы</a:t>
              </a:r>
              <a:endParaRPr lang="en-US" dirty="0"/>
            </a:p>
          </p:txBody>
        </p:sp>
        <p:sp>
          <p:nvSpPr>
            <p:cNvPr id="35" name="Shape 8">
              <a:extLst>
                <a:ext uri="{FF2B5EF4-FFF2-40B4-BE49-F238E27FC236}">
                  <a16:creationId xmlns:a16="http://schemas.microsoft.com/office/drawing/2014/main" id="{D7F44B29-90E6-CAF1-D2CB-148EAFC7E764}"/>
                </a:ext>
              </a:extLst>
            </p:cNvPr>
            <p:cNvSpPr/>
            <p:nvPr/>
          </p:nvSpPr>
          <p:spPr>
            <a:xfrm>
              <a:off x="3604556" y="1555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FCE8C8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A9E2D442-A91C-E399-A4B1-DC84EB0383AA}"/>
                </a:ext>
              </a:extLst>
            </p:cNvPr>
            <p:cNvSpPr/>
            <p:nvPr/>
          </p:nvSpPr>
          <p:spPr>
            <a:xfrm>
              <a:off x="3714285" y="1646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CHAT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боты</a:t>
              </a:r>
              <a:endParaRPr lang="en-US" dirty="0"/>
            </a:p>
          </p:txBody>
        </p:sp>
        <p:sp>
          <p:nvSpPr>
            <p:cNvPr id="37" name="Shape 10">
              <a:extLst>
                <a:ext uri="{FF2B5EF4-FFF2-40B4-BE49-F238E27FC236}">
                  <a16:creationId xmlns:a16="http://schemas.microsoft.com/office/drawing/2014/main" id="{2CCC5585-BA91-DC44-A57D-02AA21C619E2}"/>
                </a:ext>
              </a:extLst>
            </p:cNvPr>
            <p:cNvSpPr/>
            <p:nvPr/>
          </p:nvSpPr>
          <p:spPr>
            <a:xfrm>
              <a:off x="790955" y="2690114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EDE5FA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38" name="Text 11">
              <a:extLst>
                <a:ext uri="{FF2B5EF4-FFF2-40B4-BE49-F238E27FC236}">
                  <a16:creationId xmlns:a16="http://schemas.microsoft.com/office/drawing/2014/main" id="{8793EF73-09A1-A91E-65FF-BF2D066346F5}"/>
                </a:ext>
              </a:extLst>
            </p:cNvPr>
            <p:cNvSpPr/>
            <p:nvPr/>
          </p:nvSpPr>
          <p:spPr>
            <a:xfrm>
              <a:off x="900684" y="2781554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очереди</a:t>
              </a:r>
              <a:endParaRPr lang="en-US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сообщений</a:t>
              </a:r>
              <a:endParaRPr lang="en-US" sz="1200" dirty="0"/>
            </a:p>
          </p:txBody>
        </p:sp>
        <p:sp>
          <p:nvSpPr>
            <p:cNvPr id="39" name="Shape 12">
              <a:extLst>
                <a:ext uri="{FF2B5EF4-FFF2-40B4-BE49-F238E27FC236}">
                  <a16:creationId xmlns:a16="http://schemas.microsoft.com/office/drawing/2014/main" id="{826E5CBD-44D2-D8CF-EF35-5F2CB6EAE81D}"/>
                </a:ext>
              </a:extLst>
            </p:cNvPr>
            <p:cNvSpPr/>
            <p:nvPr/>
          </p:nvSpPr>
          <p:spPr>
            <a:xfrm>
              <a:off x="2199240" y="2698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40" name="Text 13">
              <a:extLst>
                <a:ext uri="{FF2B5EF4-FFF2-40B4-BE49-F238E27FC236}">
                  <a16:creationId xmlns:a16="http://schemas.microsoft.com/office/drawing/2014/main" id="{6B069526-515A-BD88-B50F-2F830C77DE90}"/>
                </a:ext>
              </a:extLst>
            </p:cNvPr>
            <p:cNvSpPr/>
            <p:nvPr/>
          </p:nvSpPr>
          <p:spPr>
            <a:xfrm>
              <a:off x="2308969" y="2789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STREAM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потоки</a:t>
              </a:r>
              <a:endParaRPr lang="en-US" dirty="0"/>
            </a:p>
          </p:txBody>
        </p:sp>
        <p:sp>
          <p:nvSpPr>
            <p:cNvPr id="41" name="Shape 14">
              <a:extLst>
                <a:ext uri="{FF2B5EF4-FFF2-40B4-BE49-F238E27FC236}">
                  <a16:creationId xmlns:a16="http://schemas.microsoft.com/office/drawing/2014/main" id="{2C1501DA-0CFE-8AB6-0BFC-2BA0B729842F}"/>
                </a:ext>
              </a:extLst>
            </p:cNvPr>
            <p:cNvSpPr/>
            <p:nvPr/>
          </p:nvSpPr>
          <p:spPr>
            <a:xfrm>
              <a:off x="3604556" y="2698496"/>
              <a:ext cx="1251585" cy="64008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3970">
              <a:solidFill>
                <a:srgbClr val="AEB9CC"/>
              </a:solidFill>
              <a:prstDash val="solid"/>
            </a:ln>
          </p:spPr>
        </p:sp>
        <p:sp>
          <p:nvSpPr>
            <p:cNvPr id="42" name="Text 15">
              <a:extLst>
                <a:ext uri="{FF2B5EF4-FFF2-40B4-BE49-F238E27FC236}">
                  <a16:creationId xmlns:a16="http://schemas.microsoft.com/office/drawing/2014/main" id="{A001BD13-DF9B-05F3-636E-A15F7C7FE15A}"/>
                </a:ext>
              </a:extLst>
            </p:cNvPr>
            <p:cNvSpPr/>
            <p:nvPr/>
          </p:nvSpPr>
          <p:spPr>
            <a:xfrm>
              <a:off x="3714285" y="2789936"/>
              <a:ext cx="978512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PARSER</a:t>
              </a:r>
              <a:endParaRPr lang="en-US" dirty="0"/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02A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парсинг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6AA3"/>
          </a:solidFill>
          <a:ln w="12700">
            <a:solidFill>
              <a:srgbClr val="526A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9050">
            <a:solidFill>
              <a:srgbClr val="526A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0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D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  •  Генераторы и асинхронность в Python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93776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Генераторы помогают понять принцип асинхронности.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Ключевое свойство — сохранение состояния между паузами.</a:t>
            </a:r>
            <a:endParaRPr lang="en-US" dirty="0"/>
          </a:p>
          <a:p>
            <a:r>
              <a:rPr lang="en-US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Современный Python использует async/await, но идея yield остаётся важной</a:t>
            </a:r>
            <a:r>
              <a:rPr lang="en-US" sz="1000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0760" y="1097280"/>
            <a:ext cx="4572000" cy="4389120"/>
          </a:xfrm>
          <a:prstGeom prst="roundRect">
            <a:avLst>
              <a:gd name="adj" fmla="val 3750"/>
            </a:avLst>
          </a:prstGeom>
          <a:solidFill>
            <a:srgbClr val="E9EEF6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6A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это связано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87452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7EC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1965960"/>
            <a:ext cx="27980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генератор: yield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2359152"/>
            <a:ext cx="0" cy="338328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20840" y="27432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DDF3E8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0568" y="2834640"/>
            <a:ext cx="27980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корутина: пауза + продолжение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3218688"/>
            <a:ext cx="0" cy="347472"/>
          </a:xfrm>
          <a:prstGeom prst="line">
            <a:avLst/>
          </a:prstGeom>
          <a:noFill/>
          <a:ln w="17780">
            <a:solidFill>
              <a:srgbClr val="526AA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361188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EDE5FA"/>
          </a:solidFill>
          <a:ln w="13970">
            <a:solidFill>
              <a:srgbClr val="AEB9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3703320"/>
            <a:ext cx="279806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async/await: современный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0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синтаксис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4526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E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помогает понять await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5160</TotalTime>
  <Words>615</Words>
  <Application>Microsoft Office PowerPoint</Application>
  <PresentationFormat>Widescreen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Генераторы и асинхронность в Python</dc:title>
  <dc:subject>Использование генераторов для асинхронного программирования в Python</dc:subject>
  <dc:creator>OpenAI</dc:creator>
  <cp:lastModifiedBy>Ksenia Yakovenko</cp:lastModifiedBy>
  <cp:revision>3</cp:revision>
  <dcterms:created xsi:type="dcterms:W3CDTF">2026-05-31T21:18:21Z</dcterms:created>
  <dcterms:modified xsi:type="dcterms:W3CDTF">2026-06-04T11:21:44Z</dcterms:modified>
</cp:coreProperties>
</file>